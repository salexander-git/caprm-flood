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43891200" cy="32918400"/>
  <p:notesSz cx="32918400" cy="43891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33" d="100"/>
          <a:sy n="33" d="100"/>
        </p:scale>
        <p:origin x="330" y="24"/>
      </p:cViewPr>
      <p:guideLst/>
    </p:cSldViewPr>
  </p:slideViewPr>
  <p:notesTextViewPr>
    <p:cViewPr>
      <p:scale>
        <a:sx n="3" d="2"/>
        <a:sy n="3" d="2"/>
      </p:scale>
      <p:origin x="-6" y="-18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4027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38912"/>
            <a:ext cx="4206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769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THOMAS GOLISANO COLLEGE OF COMPUTING &amp; INFORMATION SCIENCES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14400" y="841248"/>
            <a:ext cx="4206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CAPRM-Flood: A Reproducible C++/Python Framework for Property-Level Flood Exposure Indexing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304288"/>
            <a:ext cx="4206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evidence extraction, and the cost of making exact spatial queries cheap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2761488"/>
            <a:ext cx="4206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Sterling Alexander</a:t>
            </a:r>
            <a:r>
              <a:rPr lang="en-US" sz="2100" dirty="0">
                <a:solidFill>
                  <a:srgbClr val="F769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sa5836@rit.edu</a:t>
            </a:r>
            <a:r>
              <a:rPr lang="en-US" sz="2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Advisor: </a:t>
            </a:r>
            <a:r>
              <a:rPr lang="en-US" sz="21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Minseok Kwon</a:t>
            </a:r>
            <a:r>
              <a:rPr lang="en-US" sz="21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M.S. Computer Science  |  Rochester Institute of Technology  |  Summer 2026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14400" y="3364992"/>
            <a:ext cx="42062400" cy="45720"/>
          </a:xfrm>
          <a:prstGeom prst="rect">
            <a:avLst/>
          </a:prstGeom>
          <a:solidFill>
            <a:srgbClr val="F7690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3794760"/>
            <a:ext cx="13624560" cy="4846320"/>
          </a:xfrm>
          <a:prstGeom prst="rect">
            <a:avLst/>
          </a:prstGeom>
          <a:solidFill>
            <a:srgbClr val="F5F5F5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98448" y="4032504"/>
            <a:ext cx="1285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60" dirty="0">
                <a:solidFill>
                  <a:srgbClr val="F769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298448" y="4727448"/>
            <a:ext cx="12856464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Flooding is the most common weather-related natural disaster in the United States, and FEMA estimates one inch of water can cause roughly $25,000 of damage to a home. Screening a property for exposure means joining its location to several public hazard datasets, each with a different geometry type, schema, and coordinate reference system.</a:t>
            </a:r>
            <a:endParaRPr lang="en-US" sz="1700" dirty="0"/>
          </a:p>
          <a:p>
            <a:pPr marL="0" indent="0">
              <a:lnSpc>
                <a:spcPct val="112000"/>
              </a:lnSpc>
              <a:buNone/>
            </a:pPr>
            <a:endParaRPr lang="en-US" sz="17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CAPRM-Flood derives traceable evidence for all 267,362 properties in Monroe County, NY, and validates every spatial computation against an independent implementation. One kernel dominates that work: exact nearest-feature distance, over roughly 1.07 million line segments and polygon boundaries, once per property. Making it cheap without giving up exactness is where the project’s computer-science contribution is concentrated.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14400" y="9052560"/>
            <a:ext cx="13624560" cy="5669280"/>
          </a:xfrm>
          <a:prstGeom prst="rect">
            <a:avLst/>
          </a:prstGeom>
          <a:solidFill>
            <a:srgbClr val="F5F5F5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298448" y="9290304"/>
            <a:ext cx="1285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60" dirty="0">
                <a:solidFill>
                  <a:srgbClr val="F769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RESEARCH QUESTION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298448" y="9985248"/>
            <a:ext cx="1285646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F769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Answered. </a:t>
            </a:r>
            <a:r>
              <a:rPr lang="en-US" sz="17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a transparent C++/Python system derive defensible property-level flood evidence reproducibly, validate it across independent implementations, and convert it into an interpretable relative ranking?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298448" y="11402568"/>
            <a:ext cx="12856464" cy="2788920"/>
          </a:xfrm>
          <a:prstGeom prst="rect">
            <a:avLst/>
          </a:prstGeom>
          <a:solidFill>
            <a:srgbClr val="FFFFFF"/>
          </a:solidFill>
          <a:ln w="19050">
            <a:solidFill>
              <a:srgbClr val="F769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527048" y="11539728"/>
            <a:ext cx="1239926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769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Open. </a:t>
            </a:r>
            <a:r>
              <a:rPr lang="en-US" sz="17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exact geometry is expensive. Learned spatial indexes are evaluated almost exclusively on point data, and several return approximate results. Does the approach extend to exact nearest-neighbour queries over extended objects — line segments and polygon boundaries — and what does exactness cost?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914400" y="15133320"/>
            <a:ext cx="13624560" cy="8961120"/>
          </a:xfrm>
          <a:prstGeom prst="rect">
            <a:avLst/>
          </a:prstGeom>
          <a:solidFill>
            <a:srgbClr val="F5F5F5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298448" y="15371064"/>
            <a:ext cx="1285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60" dirty="0">
                <a:solidFill>
                  <a:srgbClr val="F769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DATA, EVIDENCE FAMILIES &amp; CRS</a:t>
            </a:r>
            <a:endParaRPr lang="en-US" sz="2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98448" y="16066008"/>
          <a:ext cx="12856464" cy="4343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696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Evidence family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690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source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690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Topology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690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derived fields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690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FEMA flood zone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FEMA National Flood Hazard Layer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Vector polygons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zone, SFHA flag, FLD_AR_ID, match status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Nearest water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USGS 3D Hydrography Program (20 km buffer)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Lines + areas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distance (m), feature id / class / type, tie count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Terrain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USGS 3DEP 1/3 arc-second DEM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Raster grid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elevation, local mean, relative elevation, slope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i="1" dirty="0">
                          <a:solidFill>
                            <a:srgbClr val="5F5F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Precipitation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i="1" dirty="0">
                          <a:solidFill>
                            <a:srgbClr val="5F5F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NOAA precipitation-frequency statistics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i="1" dirty="0">
                          <a:solidFill>
                            <a:srgbClr val="5F5F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Interpolated points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i="1" dirty="0">
                          <a:solidFill>
                            <a:srgbClr val="F7690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yet implemented — planned fourth topology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1298448" y="21186648"/>
            <a:ext cx="1285646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Workload: 267,362 unique NYS parcel-centroid property identifiers, countywide. An immutable 1,000-property fixture is preserved for regression comparison.</a:t>
            </a:r>
            <a:endParaRPr lang="en-US" sz="1700" dirty="0"/>
          </a:p>
          <a:p>
            <a:pPr marL="0" indent="0">
              <a:lnSpc>
                <a:spcPct val="112000"/>
              </a:lnSpc>
              <a:buNone/>
            </a:pPr>
            <a:endParaRPr lang="en-US" sz="17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metric work is performed in EPSG:26918 (NAD83 / UTM zone 18N). Distances are never computed in degrees; CRS is recorded as a field on every evidence row.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914400" y="24505920"/>
            <a:ext cx="13624560" cy="4846320"/>
          </a:xfrm>
          <a:prstGeom prst="rect">
            <a:avLst/>
          </a:prstGeom>
          <a:solidFill>
            <a:srgbClr val="F5F5F5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1298448" y="24743664"/>
            <a:ext cx="1285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60" dirty="0">
                <a:solidFill>
                  <a:srgbClr val="F769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CONTRACT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1298448" y="25438608"/>
            <a:ext cx="1285646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spatial field is computed twice — once by a Python reference (GeoPandas / Shapely) and once by an independent C++ implementation that shares no code with it. The harness requires full row coverage and field-for-field agreement on polygon match, zone label, SFHA flag, nearest-feature identity, class, name, tie count and CRS, with distance agreement within 1e-6 m. Ties resolve deterministically by lexicographic feature id. Manifests record checksums, row counts, schemas and CRS for every artifact.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15087600" y="3794760"/>
            <a:ext cx="13624560" cy="8961120"/>
          </a:xfrm>
          <a:prstGeom prst="rect">
            <a:avLst/>
          </a:prstGeom>
          <a:solidFill>
            <a:srgbClr val="F5F5F5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15471648" y="4032504"/>
            <a:ext cx="1285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60" dirty="0">
                <a:solidFill>
                  <a:srgbClr val="F769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15471648" y="4727448"/>
            <a:ext cx="4102608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F769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15563088" y="4727448"/>
            <a:ext cx="3919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FEMA NFHL</a:t>
            </a:r>
            <a:endParaRPr lang="en-US" sz="15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flood-hazard polygons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19848576" y="4727448"/>
            <a:ext cx="4102608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F769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19940016" y="4727448"/>
            <a:ext cx="3919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USGS 3DHP</a:t>
            </a:r>
            <a:endParaRPr lang="en-US" sz="15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hydrography lines + areas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24225504" y="4727448"/>
            <a:ext cx="4102608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F769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24316944" y="4727448"/>
            <a:ext cx="3919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USGS 3DEP</a:t>
            </a:r>
            <a:endParaRPr lang="en-US" sz="15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elevation raster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17522952" y="5596128"/>
            <a:ext cx="0" cy="347472"/>
          </a:xfrm>
          <a:prstGeom prst="line">
            <a:avLst/>
          </a:prstGeom>
          <a:noFill/>
          <a:ln w="22225">
            <a:solidFill>
              <a:srgbClr val="5F5F5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21899880" y="5596128"/>
            <a:ext cx="0" cy="347472"/>
          </a:xfrm>
          <a:prstGeom prst="line">
            <a:avLst/>
          </a:prstGeom>
          <a:noFill/>
          <a:ln w="22225">
            <a:solidFill>
              <a:srgbClr val="5F5F5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26276808" y="5596128"/>
            <a:ext cx="0" cy="347472"/>
          </a:xfrm>
          <a:prstGeom prst="line">
            <a:avLst/>
          </a:prstGeom>
          <a:noFill/>
          <a:ln w="22225">
            <a:solidFill>
              <a:srgbClr val="5F5F5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15471648" y="5943600"/>
            <a:ext cx="12856464" cy="777240"/>
          </a:xfrm>
          <a:prstGeom prst="rect">
            <a:avLst/>
          </a:prstGeom>
          <a:solidFill>
            <a:srgbClr val="FFF3E8"/>
          </a:solidFill>
          <a:ln w="15875">
            <a:solidFill>
              <a:srgbClr val="F769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15563088" y="5943600"/>
            <a:ext cx="12673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ingestion  ·  CRS normalization to EPSG:26918  ·  caching  ·  manifests + checksums</a:t>
            </a:r>
            <a:endParaRPr lang="en-US" sz="1500" dirty="0"/>
          </a:p>
        </p:txBody>
      </p:sp>
      <p:sp>
        <p:nvSpPr>
          <p:cNvPr id="35" name="Shape 32"/>
          <p:cNvSpPr/>
          <p:nvPr/>
        </p:nvSpPr>
        <p:spPr>
          <a:xfrm>
            <a:off x="17522952" y="6720840"/>
            <a:ext cx="0" cy="347472"/>
          </a:xfrm>
          <a:prstGeom prst="line">
            <a:avLst/>
          </a:prstGeom>
          <a:noFill/>
          <a:ln w="22225">
            <a:solidFill>
              <a:srgbClr val="5F5F5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21899880" y="6720840"/>
            <a:ext cx="0" cy="347472"/>
          </a:xfrm>
          <a:prstGeom prst="line">
            <a:avLst/>
          </a:prstGeom>
          <a:noFill/>
          <a:ln w="22225">
            <a:solidFill>
              <a:srgbClr val="5F5F5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26276808" y="6720840"/>
            <a:ext cx="0" cy="347472"/>
          </a:xfrm>
          <a:prstGeom prst="line">
            <a:avLst/>
          </a:prstGeom>
          <a:noFill/>
          <a:ln w="22225">
            <a:solidFill>
              <a:srgbClr val="5F5F5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15471648" y="7068312"/>
            <a:ext cx="4102608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F769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15563088" y="7068312"/>
            <a:ext cx="3919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FEMA evidence</a:t>
            </a:r>
            <a:endParaRPr lang="en-US" sz="15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</a:t>
            </a:r>
            <a:endParaRPr lang="en-US" sz="1500" dirty="0"/>
          </a:p>
        </p:txBody>
      </p:sp>
      <p:sp>
        <p:nvSpPr>
          <p:cNvPr id="40" name="Shape 37"/>
          <p:cNvSpPr/>
          <p:nvPr/>
        </p:nvSpPr>
        <p:spPr>
          <a:xfrm>
            <a:off x="19848576" y="7068312"/>
            <a:ext cx="4102608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F769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19940016" y="7068312"/>
            <a:ext cx="3919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Nearest-water</a:t>
            </a:r>
            <a:endParaRPr lang="en-US" sz="15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table</a:t>
            </a:r>
            <a:endParaRPr lang="en-US" sz="1500" dirty="0"/>
          </a:p>
        </p:txBody>
      </p:sp>
      <p:sp>
        <p:nvSpPr>
          <p:cNvPr id="42" name="Shape 39"/>
          <p:cNvSpPr/>
          <p:nvPr/>
        </p:nvSpPr>
        <p:spPr>
          <a:xfrm>
            <a:off x="24225504" y="7068312"/>
            <a:ext cx="4102608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F769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24316944" y="7068312"/>
            <a:ext cx="3919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Terrain evidence</a:t>
            </a:r>
            <a:endParaRPr lang="en-US" sz="15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</a:t>
            </a:r>
            <a:endParaRPr lang="en-US" sz="1500" dirty="0"/>
          </a:p>
        </p:txBody>
      </p:sp>
      <p:sp>
        <p:nvSpPr>
          <p:cNvPr id="44" name="Shape 41"/>
          <p:cNvSpPr/>
          <p:nvPr/>
        </p:nvSpPr>
        <p:spPr>
          <a:xfrm>
            <a:off x="17522952" y="7936992"/>
            <a:ext cx="0" cy="310896"/>
          </a:xfrm>
          <a:prstGeom prst="line">
            <a:avLst/>
          </a:prstGeom>
          <a:noFill/>
          <a:ln w="22225">
            <a:solidFill>
              <a:srgbClr val="5F5F5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2"/>
          <p:cNvSpPr/>
          <p:nvPr/>
        </p:nvSpPr>
        <p:spPr>
          <a:xfrm>
            <a:off x="21899880" y="7936992"/>
            <a:ext cx="0" cy="310896"/>
          </a:xfrm>
          <a:prstGeom prst="line">
            <a:avLst/>
          </a:prstGeom>
          <a:noFill/>
          <a:ln w="22225">
            <a:solidFill>
              <a:srgbClr val="5F5F5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3"/>
          <p:cNvSpPr/>
          <p:nvPr/>
        </p:nvSpPr>
        <p:spPr>
          <a:xfrm>
            <a:off x="26276808" y="7936992"/>
            <a:ext cx="0" cy="310896"/>
          </a:xfrm>
          <a:prstGeom prst="line">
            <a:avLst/>
          </a:prstGeom>
          <a:noFill/>
          <a:ln w="22225">
            <a:solidFill>
              <a:srgbClr val="5F5F5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15471648" y="8247888"/>
            <a:ext cx="12856464" cy="1143000"/>
          </a:xfrm>
          <a:prstGeom prst="rect">
            <a:avLst/>
          </a:prstGeom>
          <a:solidFill>
            <a:srgbClr val="FFFFFF"/>
          </a:solidFill>
          <a:ln w="15875">
            <a:solidFill>
              <a:srgbClr val="5F5F5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15563088" y="8247888"/>
            <a:ext cx="126735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C++ kernels   —   FEMA point-in-polygon  ·  brute force  ·  Feature BVH  ·  Segment BVH</a:t>
            </a:r>
            <a:endParaRPr lang="en-US" sz="14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harness: field-for-field agreement, 267,362 / 267,362</a:t>
            </a:r>
            <a:endParaRPr lang="en-US" sz="1400" dirty="0"/>
          </a:p>
        </p:txBody>
      </p:sp>
      <p:sp>
        <p:nvSpPr>
          <p:cNvPr id="49" name="Shape 46"/>
          <p:cNvSpPr/>
          <p:nvPr/>
        </p:nvSpPr>
        <p:spPr>
          <a:xfrm>
            <a:off x="21899880" y="9390888"/>
            <a:ext cx="0" cy="310896"/>
          </a:xfrm>
          <a:prstGeom prst="line">
            <a:avLst/>
          </a:prstGeom>
          <a:noFill/>
          <a:ln w="22225">
            <a:solidFill>
              <a:srgbClr val="5F5F5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7"/>
          <p:cNvSpPr/>
          <p:nvPr/>
        </p:nvSpPr>
        <p:spPr>
          <a:xfrm>
            <a:off x="15471648" y="9701784"/>
            <a:ext cx="12856464" cy="777240"/>
          </a:xfrm>
          <a:prstGeom prst="rect">
            <a:avLst/>
          </a:prstGeom>
          <a:solidFill>
            <a:srgbClr val="FFF3E8"/>
          </a:solidFill>
          <a:ln w="15875">
            <a:solidFill>
              <a:srgbClr val="F769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15563088" y="9701784"/>
            <a:ext cx="12673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Exposure index  —  four explicitly weighted 0–100 components</a:t>
            </a:r>
            <a:endParaRPr lang="en-US" sz="1500" dirty="0"/>
          </a:p>
        </p:txBody>
      </p:sp>
      <p:sp>
        <p:nvSpPr>
          <p:cNvPr id="52" name="Shape 49"/>
          <p:cNvSpPr/>
          <p:nvPr/>
        </p:nvSpPr>
        <p:spPr>
          <a:xfrm>
            <a:off x="21899880" y="10479024"/>
            <a:ext cx="0" cy="310896"/>
          </a:xfrm>
          <a:prstGeom prst="line">
            <a:avLst/>
          </a:prstGeom>
          <a:noFill/>
          <a:ln w="22225">
            <a:solidFill>
              <a:srgbClr val="5F5F5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0"/>
          <p:cNvSpPr/>
          <p:nvPr/>
        </p:nvSpPr>
        <p:spPr>
          <a:xfrm>
            <a:off x="15471648" y="10789920"/>
            <a:ext cx="12856464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/>
          <p:nvPr/>
        </p:nvSpPr>
        <p:spPr>
          <a:xfrm>
            <a:off x="15563088" y="10789920"/>
            <a:ext cx="12673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Per-property evidence, component scores, index value, countywide percentile rank</a:t>
            </a:r>
            <a:endParaRPr lang="en-US" sz="1500" dirty="0"/>
          </a:p>
        </p:txBody>
      </p:sp>
      <p:sp>
        <p:nvSpPr>
          <p:cNvPr id="55" name="Text 52"/>
          <p:cNvSpPr/>
          <p:nvPr/>
        </p:nvSpPr>
        <p:spPr>
          <a:xfrm>
            <a:off x="15471648" y="11585448"/>
            <a:ext cx="1285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Source-family evidence products remain separately inspectable. Scoring is strictly downstream and never mutates evidence.</a:t>
            </a:r>
            <a:endParaRPr lang="en-US" sz="1400" dirty="0"/>
          </a:p>
        </p:txBody>
      </p:sp>
      <p:sp>
        <p:nvSpPr>
          <p:cNvPr id="56" name="Shape 53"/>
          <p:cNvSpPr/>
          <p:nvPr/>
        </p:nvSpPr>
        <p:spPr>
          <a:xfrm>
            <a:off x="15087600" y="13167360"/>
            <a:ext cx="13624560" cy="6309360"/>
          </a:xfrm>
          <a:prstGeom prst="rect">
            <a:avLst/>
          </a:prstGeom>
          <a:solidFill>
            <a:srgbClr val="F5F5F5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4"/>
          <p:cNvSpPr/>
          <p:nvPr/>
        </p:nvSpPr>
        <p:spPr>
          <a:xfrm>
            <a:off x="15471648" y="13405104"/>
            <a:ext cx="1285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60" dirty="0">
                <a:solidFill>
                  <a:srgbClr val="F769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— CORRECTNESS</a:t>
            </a:r>
            <a:endParaRPr lang="en-US" sz="2400" dirty="0"/>
          </a:p>
        </p:txBody>
      </p:sp>
      <p:graphicFrame>
        <p:nvGraphicFramePr>
          <p:cNvPr id="58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471648" y="14100048"/>
          <a:ext cx="12856464" cy="3621024"/>
        </p:xfrm>
        <a:graphic>
          <a:graphicData uri="http://schemas.openxmlformats.org/drawingml/2006/table">
            <a:tbl>
              <a:tblPr/>
              <a:tblGrid>
                <a:gridCol w="7863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926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FEMA membership, Python vs C++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267,362 / 267,362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Nearest water, brute force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267,362 / 267,362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Nearest water, Feature BVH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267,362 / 267,362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Nearest water, Segment BVH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267,362 / 267,362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Maximum absolute distance error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4.658 × 10⁻¹⁰ m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Polygon-interior properties at exactly 0 m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266, all waterbody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Python test suite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186 passed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C++ unit suite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80,021 checks, 0 failures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Automated product audit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 pass / 1 warn / 0 fail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9" name="Shape 55"/>
          <p:cNvSpPr/>
          <p:nvPr/>
        </p:nvSpPr>
        <p:spPr>
          <a:xfrm>
            <a:off x="15471648" y="17867376"/>
            <a:ext cx="12856464" cy="1207008"/>
          </a:xfrm>
          <a:prstGeom prst="rect">
            <a:avLst/>
          </a:prstGeom>
          <a:solidFill>
            <a:srgbClr val="FFFFFF"/>
          </a:solidFill>
          <a:ln w="19050">
            <a:solidFill>
              <a:srgbClr val="F769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6"/>
          <p:cNvSpPr/>
          <p:nvPr/>
        </p:nvSpPr>
        <p:spPr>
          <a:xfrm>
            <a:off x="15672816" y="17867376"/>
            <a:ext cx="1245412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F769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audit checks the stored artifact, not the code. </a:t>
            </a: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unit test passed and the stored percentile still could not be recomputed from the stored index — off by 1.07 × 10⁻² percentile points. The composite lies on a lattice of spacing 9.4 × 10⁻⁶, so float noise near 10⁻¹⁴ was splitting mathematically tied properties into an arbitrary order. Fix: round to 9 decimals before ranking.</a:t>
            </a:r>
            <a:endParaRPr lang="en-US" sz="1400" dirty="0"/>
          </a:p>
        </p:txBody>
      </p:sp>
      <p:sp>
        <p:nvSpPr>
          <p:cNvPr id="61" name="Shape 57"/>
          <p:cNvSpPr/>
          <p:nvPr/>
        </p:nvSpPr>
        <p:spPr>
          <a:xfrm>
            <a:off x="15087600" y="19888200"/>
            <a:ext cx="13624560" cy="10058400"/>
          </a:xfrm>
          <a:prstGeom prst="rect">
            <a:avLst/>
          </a:prstGeom>
          <a:solidFill>
            <a:srgbClr val="F5F5F5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58"/>
          <p:cNvSpPr/>
          <p:nvPr/>
        </p:nvSpPr>
        <p:spPr>
          <a:xfrm>
            <a:off x="15471648" y="20125944"/>
            <a:ext cx="1285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60" dirty="0">
                <a:solidFill>
                  <a:srgbClr val="F769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— EXPOSURE INDEX &amp; RANK STABILITY</a:t>
            </a:r>
            <a:endParaRPr lang="en-US" sz="2400" dirty="0"/>
          </a:p>
        </p:txBody>
      </p:sp>
      <p:sp>
        <p:nvSpPr>
          <p:cNvPr id="63" name="Text 59"/>
          <p:cNvSpPr/>
          <p:nvPr/>
        </p:nvSpPr>
        <p:spPr>
          <a:xfrm>
            <a:off x="15471648" y="20820888"/>
            <a:ext cx="12856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components, one declared weight each, no hidden sub-weights: FEMA 0.40, nearest water 0.35, absolute elevation 0.15, relative elevation 0.10.</a:t>
            </a:r>
            <a:endParaRPr lang="en-US" sz="1600" dirty="0"/>
          </a:p>
        </p:txBody>
      </p:sp>
      <p:sp>
        <p:nvSpPr>
          <p:cNvPr id="64" name="Text 60"/>
          <p:cNvSpPr/>
          <p:nvPr/>
        </p:nvSpPr>
        <p:spPr>
          <a:xfrm>
            <a:off x="15471648" y="21689568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water</a:t>
            </a:r>
            <a:endParaRPr lang="en-US" sz="1400" dirty="0"/>
          </a:p>
        </p:txBody>
      </p:sp>
      <p:sp>
        <p:nvSpPr>
          <p:cNvPr id="65" name="Shape 61"/>
          <p:cNvSpPr/>
          <p:nvPr/>
        </p:nvSpPr>
        <p:spPr>
          <a:xfrm>
            <a:off x="18946368" y="21735288"/>
            <a:ext cx="4005072" cy="256032"/>
          </a:xfrm>
          <a:prstGeom prst="rect">
            <a:avLst/>
          </a:prstGeom>
          <a:solidFill>
            <a:srgbClr val="C9C9C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2"/>
          <p:cNvSpPr/>
          <p:nvPr/>
        </p:nvSpPr>
        <p:spPr>
          <a:xfrm>
            <a:off x="18946368" y="22046184"/>
            <a:ext cx="7472320" cy="256032"/>
          </a:xfrm>
          <a:prstGeom prst="rect">
            <a:avLst/>
          </a:prstGeom>
          <a:solidFill>
            <a:srgbClr val="F7690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3"/>
          <p:cNvSpPr/>
          <p:nvPr/>
        </p:nvSpPr>
        <p:spPr>
          <a:xfrm>
            <a:off x="26510128" y="219913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0.653</a:t>
            </a:r>
            <a:endParaRPr lang="en-US" sz="1300" dirty="0"/>
          </a:p>
        </p:txBody>
      </p:sp>
      <p:sp>
        <p:nvSpPr>
          <p:cNvPr id="68" name="Text 64"/>
          <p:cNvSpPr/>
          <p:nvPr/>
        </p:nvSpPr>
        <p:spPr>
          <a:xfrm>
            <a:off x="15471648" y="22494240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FEMA zone</a:t>
            </a:r>
            <a:endParaRPr lang="en-US" sz="1400" dirty="0"/>
          </a:p>
        </p:txBody>
      </p:sp>
      <p:sp>
        <p:nvSpPr>
          <p:cNvPr id="69" name="Shape 65"/>
          <p:cNvSpPr/>
          <p:nvPr/>
        </p:nvSpPr>
        <p:spPr>
          <a:xfrm>
            <a:off x="18946368" y="22539960"/>
            <a:ext cx="4577225" cy="256032"/>
          </a:xfrm>
          <a:prstGeom prst="rect">
            <a:avLst/>
          </a:prstGeom>
          <a:solidFill>
            <a:srgbClr val="C9C9C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6"/>
          <p:cNvSpPr/>
          <p:nvPr/>
        </p:nvSpPr>
        <p:spPr>
          <a:xfrm>
            <a:off x="18946368" y="22850856"/>
            <a:ext cx="1922435" cy="256032"/>
          </a:xfrm>
          <a:prstGeom prst="rect">
            <a:avLst/>
          </a:prstGeom>
          <a:solidFill>
            <a:srgbClr val="F7690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7"/>
          <p:cNvSpPr/>
          <p:nvPr/>
        </p:nvSpPr>
        <p:spPr>
          <a:xfrm>
            <a:off x="20960243" y="2279599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0.168</a:t>
            </a:r>
            <a:endParaRPr lang="en-US" sz="1300" dirty="0"/>
          </a:p>
        </p:txBody>
      </p:sp>
      <p:sp>
        <p:nvSpPr>
          <p:cNvPr id="72" name="Text 68"/>
          <p:cNvSpPr/>
          <p:nvPr/>
        </p:nvSpPr>
        <p:spPr>
          <a:xfrm>
            <a:off x="15471648" y="23298912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Elevation (abs.)</a:t>
            </a:r>
            <a:endParaRPr lang="en-US" sz="1400" dirty="0"/>
          </a:p>
        </p:txBody>
      </p:sp>
      <p:sp>
        <p:nvSpPr>
          <p:cNvPr id="73" name="Shape 69"/>
          <p:cNvSpPr/>
          <p:nvPr/>
        </p:nvSpPr>
        <p:spPr>
          <a:xfrm>
            <a:off x="18946368" y="23344632"/>
            <a:ext cx="1716459" cy="256032"/>
          </a:xfrm>
          <a:prstGeom prst="rect">
            <a:avLst/>
          </a:prstGeom>
          <a:solidFill>
            <a:srgbClr val="C9C9C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0"/>
          <p:cNvSpPr/>
          <p:nvPr/>
        </p:nvSpPr>
        <p:spPr>
          <a:xfrm>
            <a:off x="18946368" y="23655528"/>
            <a:ext cx="1544813" cy="256032"/>
          </a:xfrm>
          <a:prstGeom prst="rect">
            <a:avLst/>
          </a:prstGeom>
          <a:solidFill>
            <a:srgbClr val="F7690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1"/>
          <p:cNvSpPr/>
          <p:nvPr/>
        </p:nvSpPr>
        <p:spPr>
          <a:xfrm>
            <a:off x="20582621" y="2360066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0.135</a:t>
            </a:r>
            <a:endParaRPr lang="en-US" sz="1300" dirty="0"/>
          </a:p>
        </p:txBody>
      </p:sp>
      <p:sp>
        <p:nvSpPr>
          <p:cNvPr id="76" name="Text 72"/>
          <p:cNvSpPr/>
          <p:nvPr/>
        </p:nvSpPr>
        <p:spPr>
          <a:xfrm>
            <a:off x="15471648" y="24103584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Elevation (rel.)</a:t>
            </a:r>
            <a:endParaRPr lang="en-US" sz="1400" dirty="0"/>
          </a:p>
        </p:txBody>
      </p:sp>
      <p:sp>
        <p:nvSpPr>
          <p:cNvPr id="77" name="Shape 73"/>
          <p:cNvSpPr/>
          <p:nvPr/>
        </p:nvSpPr>
        <p:spPr>
          <a:xfrm>
            <a:off x="18946368" y="24149304"/>
            <a:ext cx="1144306" cy="256032"/>
          </a:xfrm>
          <a:prstGeom prst="rect">
            <a:avLst/>
          </a:prstGeom>
          <a:solidFill>
            <a:srgbClr val="C9C9C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4"/>
          <p:cNvSpPr/>
          <p:nvPr/>
        </p:nvSpPr>
        <p:spPr>
          <a:xfrm>
            <a:off x="18946368" y="24460200"/>
            <a:ext cx="492052" cy="256032"/>
          </a:xfrm>
          <a:prstGeom prst="rect">
            <a:avLst/>
          </a:prstGeom>
          <a:solidFill>
            <a:srgbClr val="F7690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5"/>
          <p:cNvSpPr/>
          <p:nvPr/>
        </p:nvSpPr>
        <p:spPr>
          <a:xfrm>
            <a:off x="19529860" y="2440533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0.043</a:t>
            </a:r>
            <a:endParaRPr lang="en-US" sz="1300" dirty="0"/>
          </a:p>
        </p:txBody>
      </p:sp>
      <p:sp>
        <p:nvSpPr>
          <p:cNvPr id="80" name="Text 76"/>
          <p:cNvSpPr/>
          <p:nvPr/>
        </p:nvSpPr>
        <p:spPr>
          <a:xfrm>
            <a:off x="15471648" y="24917400"/>
            <a:ext cx="1285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</a:t>
            </a:r>
            <a:r>
              <a:rPr lang="en-US" sz="13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declared weight     </a:t>
            </a:r>
            <a:r>
              <a:rPr lang="en-US" sz="1500" dirty="0">
                <a:solidFill>
                  <a:srgbClr val="F769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</a:t>
            </a:r>
            <a:r>
              <a:rPr lang="en-US" sz="13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share of index variance</a:t>
            </a:r>
            <a:endParaRPr lang="en-US" sz="1500" dirty="0"/>
          </a:p>
        </p:txBody>
      </p:sp>
      <p:sp>
        <p:nvSpPr>
          <p:cNvPr id="81" name="Text 77"/>
          <p:cNvSpPr/>
          <p:nvPr/>
        </p:nvSpPr>
        <p:spPr>
          <a:xfrm>
            <a:off x="15471648" y="25319736"/>
            <a:ext cx="128564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Declared weight is not influence. Water carries 35% of the weight and 65% of the variance; FEMA carries 40% and 17%, because 98.1% of properties are Zone X and a constant cannot change rank — FEMA's role is to move the 1.9% it has information about, decisively.</a:t>
            </a:r>
            <a:endParaRPr lang="en-US" sz="1500" dirty="0"/>
          </a:p>
        </p:txBody>
      </p:sp>
      <p:sp>
        <p:nvSpPr>
          <p:cNvPr id="82" name="Text 78"/>
          <p:cNvSpPr/>
          <p:nvPr/>
        </p:nvSpPr>
        <p:spPr>
          <a:xfrm>
            <a:off x="15471648" y="26444448"/>
            <a:ext cx="1285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69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STABILITY ACROSS 40 REWEIGHTING SCENARIOS</a:t>
            </a:r>
            <a:endParaRPr lang="en-US" sz="1500" dirty="0"/>
          </a:p>
        </p:txBody>
      </p:sp>
      <p:sp>
        <p:nvSpPr>
          <p:cNvPr id="83" name="Shape 79"/>
          <p:cNvSpPr/>
          <p:nvPr/>
        </p:nvSpPr>
        <p:spPr>
          <a:xfrm>
            <a:off x="18672048" y="26855928"/>
            <a:ext cx="0" cy="141732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0"/>
          <p:cNvSpPr/>
          <p:nvPr/>
        </p:nvSpPr>
        <p:spPr>
          <a:xfrm>
            <a:off x="18352008" y="282732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</a:t>
            </a:r>
            <a:endParaRPr lang="en-US" sz="1200" dirty="0"/>
          </a:p>
        </p:txBody>
      </p:sp>
      <p:sp>
        <p:nvSpPr>
          <p:cNvPr id="85" name="Shape 81"/>
          <p:cNvSpPr/>
          <p:nvPr/>
        </p:nvSpPr>
        <p:spPr>
          <a:xfrm>
            <a:off x="20475245" y="26855928"/>
            <a:ext cx="0" cy="141732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2"/>
          <p:cNvSpPr/>
          <p:nvPr/>
        </p:nvSpPr>
        <p:spPr>
          <a:xfrm>
            <a:off x="20155205" y="282732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</a:t>
            </a:r>
            <a:endParaRPr lang="en-US" sz="1200" dirty="0"/>
          </a:p>
        </p:txBody>
      </p:sp>
      <p:sp>
        <p:nvSpPr>
          <p:cNvPr id="87" name="Shape 83"/>
          <p:cNvSpPr/>
          <p:nvPr/>
        </p:nvSpPr>
        <p:spPr>
          <a:xfrm>
            <a:off x="22278442" y="26855928"/>
            <a:ext cx="0" cy="141732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4"/>
          <p:cNvSpPr/>
          <p:nvPr/>
        </p:nvSpPr>
        <p:spPr>
          <a:xfrm>
            <a:off x="21958402" y="282732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</a:t>
            </a:r>
            <a:endParaRPr lang="en-US" sz="1200" dirty="0"/>
          </a:p>
        </p:txBody>
      </p:sp>
      <p:sp>
        <p:nvSpPr>
          <p:cNvPr id="89" name="Shape 85"/>
          <p:cNvSpPr/>
          <p:nvPr/>
        </p:nvSpPr>
        <p:spPr>
          <a:xfrm>
            <a:off x="24081638" y="26855928"/>
            <a:ext cx="0" cy="141732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6"/>
          <p:cNvSpPr/>
          <p:nvPr/>
        </p:nvSpPr>
        <p:spPr>
          <a:xfrm>
            <a:off x="23761598" y="282732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</a:t>
            </a:r>
            <a:endParaRPr lang="en-US" sz="1200" dirty="0"/>
          </a:p>
        </p:txBody>
      </p:sp>
      <p:sp>
        <p:nvSpPr>
          <p:cNvPr id="91" name="Shape 87"/>
          <p:cNvSpPr/>
          <p:nvPr/>
        </p:nvSpPr>
        <p:spPr>
          <a:xfrm>
            <a:off x="25884835" y="26855928"/>
            <a:ext cx="0" cy="141732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88"/>
          <p:cNvSpPr/>
          <p:nvPr/>
        </p:nvSpPr>
        <p:spPr>
          <a:xfrm>
            <a:off x="25564795" y="282732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</a:t>
            </a:r>
            <a:endParaRPr lang="en-US" sz="1200" dirty="0"/>
          </a:p>
        </p:txBody>
      </p:sp>
      <p:sp>
        <p:nvSpPr>
          <p:cNvPr id="93" name="Shape 89"/>
          <p:cNvSpPr/>
          <p:nvPr/>
        </p:nvSpPr>
        <p:spPr>
          <a:xfrm>
            <a:off x="27688032" y="26855928"/>
            <a:ext cx="0" cy="141732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0"/>
          <p:cNvSpPr/>
          <p:nvPr/>
        </p:nvSpPr>
        <p:spPr>
          <a:xfrm>
            <a:off x="27367992" y="282732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</a:t>
            </a:r>
            <a:endParaRPr lang="en-US" sz="1200" dirty="0"/>
          </a:p>
        </p:txBody>
      </p:sp>
      <p:sp>
        <p:nvSpPr>
          <p:cNvPr id="95" name="Text 91"/>
          <p:cNvSpPr/>
          <p:nvPr/>
        </p:nvSpPr>
        <p:spPr>
          <a:xfrm>
            <a:off x="15471648" y="2694736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Spearman ρ</a:t>
            </a:r>
            <a:endParaRPr lang="en-US" sz="1400" dirty="0"/>
          </a:p>
        </p:txBody>
      </p:sp>
      <p:sp>
        <p:nvSpPr>
          <p:cNvPr id="96" name="Shape 92"/>
          <p:cNvSpPr/>
          <p:nvPr/>
        </p:nvSpPr>
        <p:spPr>
          <a:xfrm>
            <a:off x="18672048" y="27148536"/>
            <a:ext cx="9015984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3"/>
          <p:cNvSpPr/>
          <p:nvPr/>
        </p:nvSpPr>
        <p:spPr>
          <a:xfrm>
            <a:off x="26335634" y="26947368"/>
            <a:ext cx="0" cy="402336"/>
          </a:xfrm>
          <a:prstGeom prst="line">
            <a:avLst/>
          </a:prstGeom>
          <a:noFill/>
          <a:ln w="15875">
            <a:solidFill>
              <a:srgbClr val="5F5F5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4"/>
          <p:cNvSpPr/>
          <p:nvPr/>
        </p:nvSpPr>
        <p:spPr>
          <a:xfrm>
            <a:off x="27237233" y="26947368"/>
            <a:ext cx="0" cy="402336"/>
          </a:xfrm>
          <a:prstGeom prst="line">
            <a:avLst/>
          </a:prstGeom>
          <a:noFill/>
          <a:ln w="15875">
            <a:solidFill>
              <a:srgbClr val="5F5F5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5"/>
          <p:cNvSpPr/>
          <p:nvPr/>
        </p:nvSpPr>
        <p:spPr>
          <a:xfrm>
            <a:off x="20177717" y="27125676"/>
            <a:ext cx="6545604" cy="64008"/>
          </a:xfrm>
          <a:prstGeom prst="rect">
            <a:avLst/>
          </a:prstGeom>
          <a:solidFill>
            <a:srgbClr val="CFCFC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6"/>
          <p:cNvSpPr/>
          <p:nvPr/>
        </p:nvSpPr>
        <p:spPr>
          <a:xfrm>
            <a:off x="26478738" y="27066240"/>
            <a:ext cx="164592" cy="164592"/>
          </a:xfrm>
          <a:prstGeom prst="ellipse">
            <a:avLst/>
          </a:prstGeom>
          <a:solidFill>
            <a:srgbClr val="F7690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7"/>
          <p:cNvSpPr/>
          <p:nvPr/>
        </p:nvSpPr>
        <p:spPr>
          <a:xfrm>
            <a:off x="27569672" y="27066240"/>
            <a:ext cx="164592" cy="164592"/>
          </a:xfrm>
          <a:prstGeom prst="ellipse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98"/>
          <p:cNvSpPr/>
          <p:nvPr/>
        </p:nvSpPr>
        <p:spPr>
          <a:xfrm>
            <a:off x="25235154" y="2723997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769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0.875</a:t>
            </a:r>
            <a:endParaRPr lang="en-US" sz="1200" dirty="0"/>
          </a:p>
        </p:txBody>
      </p:sp>
      <p:sp>
        <p:nvSpPr>
          <p:cNvPr id="103" name="Text 99"/>
          <p:cNvSpPr/>
          <p:nvPr/>
        </p:nvSpPr>
        <p:spPr>
          <a:xfrm>
            <a:off x="25859232" y="267827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0.996</a:t>
            </a:r>
            <a:endParaRPr lang="en-US" sz="1200" dirty="0"/>
          </a:p>
        </p:txBody>
      </p:sp>
      <p:sp>
        <p:nvSpPr>
          <p:cNvPr id="104" name="Text 100"/>
          <p:cNvSpPr/>
          <p:nvPr/>
        </p:nvSpPr>
        <p:spPr>
          <a:xfrm>
            <a:off x="15471648" y="2760573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Top-decile overlap</a:t>
            </a:r>
            <a:endParaRPr lang="en-US" sz="1400" dirty="0"/>
          </a:p>
        </p:txBody>
      </p:sp>
      <p:sp>
        <p:nvSpPr>
          <p:cNvPr id="105" name="Shape 101"/>
          <p:cNvSpPr/>
          <p:nvPr/>
        </p:nvSpPr>
        <p:spPr>
          <a:xfrm>
            <a:off x="18672048" y="27806904"/>
            <a:ext cx="9015984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2"/>
          <p:cNvSpPr/>
          <p:nvPr/>
        </p:nvSpPr>
        <p:spPr>
          <a:xfrm>
            <a:off x="24081638" y="27605736"/>
            <a:ext cx="0" cy="402336"/>
          </a:xfrm>
          <a:prstGeom prst="line">
            <a:avLst/>
          </a:prstGeom>
          <a:noFill/>
          <a:ln w="15875">
            <a:solidFill>
              <a:srgbClr val="5F5F5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3"/>
          <p:cNvSpPr/>
          <p:nvPr/>
        </p:nvSpPr>
        <p:spPr>
          <a:xfrm>
            <a:off x="25884835" y="27605736"/>
            <a:ext cx="0" cy="402336"/>
          </a:xfrm>
          <a:prstGeom prst="line">
            <a:avLst/>
          </a:prstGeom>
          <a:noFill/>
          <a:ln w="15875">
            <a:solidFill>
              <a:srgbClr val="5F5F5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4"/>
          <p:cNvSpPr/>
          <p:nvPr/>
        </p:nvSpPr>
        <p:spPr>
          <a:xfrm>
            <a:off x="25450916" y="27724608"/>
            <a:ext cx="164592" cy="164592"/>
          </a:xfrm>
          <a:prstGeom prst="ellipse">
            <a:avLst/>
          </a:prstGeom>
          <a:solidFill>
            <a:srgbClr val="F7690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5"/>
          <p:cNvSpPr/>
          <p:nvPr/>
        </p:nvSpPr>
        <p:spPr>
          <a:xfrm>
            <a:off x="27118873" y="27724608"/>
            <a:ext cx="164592" cy="164592"/>
          </a:xfrm>
          <a:prstGeom prst="ellipse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 106"/>
          <p:cNvSpPr/>
          <p:nvPr/>
        </p:nvSpPr>
        <p:spPr>
          <a:xfrm>
            <a:off x="24207332" y="2789834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769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0.761</a:t>
            </a:r>
            <a:endParaRPr lang="en-US" sz="1200" dirty="0"/>
          </a:p>
        </p:txBody>
      </p:sp>
      <p:sp>
        <p:nvSpPr>
          <p:cNvPr id="111" name="Text 107"/>
          <p:cNvSpPr/>
          <p:nvPr/>
        </p:nvSpPr>
        <p:spPr>
          <a:xfrm>
            <a:off x="25859232" y="274411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0.946</a:t>
            </a:r>
            <a:endParaRPr lang="en-US" sz="1200" dirty="0"/>
          </a:p>
        </p:txBody>
      </p:sp>
      <p:sp>
        <p:nvSpPr>
          <p:cNvPr id="112" name="Text 108"/>
          <p:cNvSpPr/>
          <p:nvPr/>
        </p:nvSpPr>
        <p:spPr>
          <a:xfrm>
            <a:off x="15471648" y="28520136"/>
            <a:ext cx="1285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grey span = the 4 calibration corners (0.167–0.893): the metric discriminates rather than reporting high correlation by construction</a:t>
            </a:r>
            <a:endParaRPr lang="en-US" sz="1200" dirty="0"/>
          </a:p>
        </p:txBody>
      </p:sp>
      <p:sp>
        <p:nvSpPr>
          <p:cNvPr id="113" name="Text 109"/>
          <p:cNvSpPr/>
          <p:nvPr/>
        </p:nvSpPr>
        <p:spPr>
          <a:xfrm>
            <a:off x="15471648" y="28812744"/>
            <a:ext cx="12856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lines are the stability thresholds, declared in source before any result was measured. Verdict: moderately sensitive — driven by the single worst plausible scenario (equal weighting), not the average.</a:t>
            </a:r>
            <a:endParaRPr lang="en-US" sz="1300" dirty="0"/>
          </a:p>
        </p:txBody>
      </p:sp>
      <p:sp>
        <p:nvSpPr>
          <p:cNvPr id="114" name="Shape 110"/>
          <p:cNvSpPr/>
          <p:nvPr/>
        </p:nvSpPr>
        <p:spPr>
          <a:xfrm>
            <a:off x="29260800" y="3794760"/>
            <a:ext cx="13624560" cy="7498080"/>
          </a:xfrm>
          <a:prstGeom prst="rect">
            <a:avLst/>
          </a:prstGeom>
          <a:solidFill>
            <a:srgbClr val="F5F5F5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Text 111"/>
          <p:cNvSpPr/>
          <p:nvPr/>
        </p:nvSpPr>
        <p:spPr>
          <a:xfrm>
            <a:off x="29644848" y="4032504"/>
            <a:ext cx="1285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60" dirty="0">
                <a:solidFill>
                  <a:srgbClr val="F769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INDEX GEOMETRY, NOT FEATURES</a:t>
            </a:r>
            <a:endParaRPr lang="en-US" sz="2400" dirty="0"/>
          </a:p>
        </p:txBody>
      </p:sp>
      <p:sp>
        <p:nvSpPr>
          <p:cNvPr id="116" name="Text 112"/>
          <p:cNvSpPr/>
          <p:nvPr/>
        </p:nvSpPr>
        <p:spPr>
          <a:xfrm>
            <a:off x="29644848" y="4727448"/>
            <a:ext cx="128564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bounding-volume hierarchy over whole water features stalls at 93.34% pruning. Arithmetic on its own counters shows why: it examines only 5.498 candidate features per property, yet still performs 70,771 exact segment checks — because it indexes features, not geometry.</a:t>
            </a:r>
            <a:endParaRPr lang="en-US" sz="1700" dirty="0"/>
          </a:p>
        </p:txBody>
      </p:sp>
      <p:sp>
        <p:nvSpPr>
          <p:cNvPr id="117" name="Shape 113"/>
          <p:cNvSpPr/>
          <p:nvPr/>
        </p:nvSpPr>
        <p:spPr>
          <a:xfrm>
            <a:off x="29644848" y="6281928"/>
            <a:ext cx="12856464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F769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Text 114"/>
          <p:cNvSpPr/>
          <p:nvPr/>
        </p:nvSpPr>
        <p:spPr>
          <a:xfrm>
            <a:off x="29919168" y="6281928"/>
            <a:ext cx="123078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Feature BVH selects features roughly 104× larger than the average water feature.</a:t>
            </a:r>
            <a:endParaRPr lang="en-US" sz="1900" dirty="0"/>
          </a:p>
        </p:txBody>
      </p:sp>
      <p:sp>
        <p:nvSpPr>
          <p:cNvPr id="119" name="Text 115"/>
          <p:cNvSpPr/>
          <p:nvPr/>
        </p:nvSpPr>
        <p:spPr>
          <a:xfrm>
            <a:off x="29644848" y="7653528"/>
            <a:ext cx="128564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 Ontario, the Genesee River and the Erie Canal are each one enormous feature near almost everything in the county. The bounding box of Lake Ontario is a poor proxy for the distance to Lake Ontario.</a:t>
            </a:r>
            <a:endParaRPr lang="en-US" sz="1700" dirty="0"/>
          </a:p>
        </p:txBody>
      </p:sp>
      <p:sp>
        <p:nvSpPr>
          <p:cNvPr id="120" name="Text 116"/>
          <p:cNvSpPr/>
          <p:nvPr/>
        </p:nvSpPr>
        <p:spPr>
          <a:xfrm>
            <a:off x="29644848" y="8933688"/>
            <a:ext cx="1285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69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DISTANCE-EXACT SEGMENT SPLITTING</a:t>
            </a:r>
            <a:endParaRPr lang="en-US" sz="1600" dirty="0"/>
          </a:p>
        </p:txBody>
      </p:sp>
      <p:sp>
        <p:nvSpPr>
          <p:cNvPr id="121" name="Text 117"/>
          <p:cNvSpPr/>
          <p:nvPr/>
        </p:nvSpPr>
        <p:spPr>
          <a:xfrm>
            <a:off x="29644848" y="9345168"/>
            <a:ext cx="128564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Ordering extended objects by a representative point requires inflating the search radius by L/2. Measured L = 5,748.24 m, so inflation would be 2,874 m. Capping sub-segment length at 100 m costs +0.50% index entries, cuts maximum extent 57×, and changes no distance: pieces are collinear with their parent and used only as leaf boxes.</a:t>
            </a:r>
            <a:endParaRPr lang="en-US" sz="1600" dirty="0"/>
          </a:p>
        </p:txBody>
      </p:sp>
      <p:sp>
        <p:nvSpPr>
          <p:cNvPr id="122" name="Shape 118"/>
          <p:cNvSpPr/>
          <p:nvPr/>
        </p:nvSpPr>
        <p:spPr>
          <a:xfrm>
            <a:off x="29260800" y="11704320"/>
            <a:ext cx="13624560" cy="5669280"/>
          </a:xfrm>
          <a:prstGeom prst="rect">
            <a:avLst/>
          </a:prstGeom>
          <a:solidFill>
            <a:srgbClr val="F5F5F5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Text 119"/>
          <p:cNvSpPr/>
          <p:nvPr/>
        </p:nvSpPr>
        <p:spPr>
          <a:xfrm>
            <a:off x="29644848" y="11942064"/>
            <a:ext cx="1285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60" dirty="0">
                <a:solidFill>
                  <a:srgbClr val="F769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PROGRESSION</a:t>
            </a:r>
            <a:endParaRPr lang="en-US" sz="2400" dirty="0"/>
          </a:p>
        </p:txBody>
      </p:sp>
      <p:graphicFrame>
        <p:nvGraphicFramePr>
          <p:cNvPr id="12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644848" y="12637008"/>
          <a:ext cx="12856464" cy="3328416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525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690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690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Indexes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690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690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Brute force (no index)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implemented, validated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 BVH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2D, 8,572 features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implemented, validated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Segment BVH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2D, ~1.07M segments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implemented, validated countywide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F5F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F5F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Hilbert + binary search (control)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F5F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1D, ~1.07M segments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i="1" dirty="0">
                          <a:solidFill>
                            <a:srgbClr val="F7690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development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F5F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F5F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Hilbert + recursive model index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F5F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1D, learned position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i="1" dirty="0">
                          <a:solidFill>
                            <a:srgbClr val="F7690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development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F5F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F5F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Learned search radius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F5F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seeds the query disk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i="1" dirty="0">
                          <a:solidFill>
                            <a:srgbClr val="F7690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5" name="Text 120"/>
          <p:cNvSpPr/>
          <p:nvPr/>
        </p:nvSpPr>
        <p:spPr>
          <a:xfrm>
            <a:off x="29644848" y="16111728"/>
            <a:ext cx="12856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Comparisons are adjacent, never global: 3 vs 2 isolates granularity, 4 vs 3 isolates dimensionality reduction, 5 vs 4 isolates the learning itself. Implementation 4 is not optional — without it a loss could not be attributed to either cause.</a:t>
            </a:r>
            <a:endParaRPr lang="en-US" sz="1400" dirty="0"/>
          </a:p>
        </p:txBody>
      </p:sp>
      <p:sp>
        <p:nvSpPr>
          <p:cNvPr id="126" name="Shape 121"/>
          <p:cNvSpPr/>
          <p:nvPr/>
        </p:nvSpPr>
        <p:spPr>
          <a:xfrm>
            <a:off x="29260800" y="17785080"/>
            <a:ext cx="13624560" cy="5943600"/>
          </a:xfrm>
          <a:prstGeom prst="rect">
            <a:avLst/>
          </a:prstGeom>
          <a:solidFill>
            <a:srgbClr val="F5F5F5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Text 122"/>
          <p:cNvSpPr/>
          <p:nvPr/>
        </p:nvSpPr>
        <p:spPr>
          <a:xfrm>
            <a:off x="29644848" y="18022824"/>
            <a:ext cx="1285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60" dirty="0">
                <a:solidFill>
                  <a:srgbClr val="F769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— EXACT-QUERY WORK PRUNED</a:t>
            </a:r>
            <a:endParaRPr lang="en-US" sz="2400" dirty="0"/>
          </a:p>
        </p:txBody>
      </p:sp>
      <p:sp>
        <p:nvSpPr>
          <p:cNvPr id="128" name="Text 123"/>
          <p:cNvSpPr/>
          <p:nvPr/>
        </p:nvSpPr>
        <p:spPr>
          <a:xfrm>
            <a:off x="29644848" y="18763488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Brute force</a:t>
            </a:r>
            <a:endParaRPr lang="en-US" sz="1400" dirty="0"/>
          </a:p>
        </p:txBody>
      </p:sp>
      <p:sp>
        <p:nvSpPr>
          <p:cNvPr id="129" name="Shape 124"/>
          <p:cNvSpPr/>
          <p:nvPr/>
        </p:nvSpPr>
        <p:spPr>
          <a:xfrm>
            <a:off x="34125408" y="18882360"/>
            <a:ext cx="6089904" cy="420624"/>
          </a:xfrm>
          <a:prstGeom prst="rect">
            <a:avLst/>
          </a:prstGeom>
          <a:solidFill>
            <a:srgbClr val="C9C9C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Text 125"/>
          <p:cNvSpPr/>
          <p:nvPr/>
        </p:nvSpPr>
        <p:spPr>
          <a:xfrm>
            <a:off x="40325040" y="1876348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1,063,159</a:t>
            </a:r>
            <a:endParaRPr lang="en-US" sz="1500" dirty="0"/>
          </a:p>
        </p:txBody>
      </p:sp>
      <p:sp>
        <p:nvSpPr>
          <p:cNvPr id="131" name="Text 126"/>
          <p:cNvSpPr/>
          <p:nvPr/>
        </p:nvSpPr>
        <p:spPr>
          <a:xfrm>
            <a:off x="29644848" y="19723608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BVH  — indexes features</a:t>
            </a:r>
            <a:endParaRPr lang="en-US" sz="1400" dirty="0"/>
          </a:p>
        </p:txBody>
      </p:sp>
      <p:sp>
        <p:nvSpPr>
          <p:cNvPr id="132" name="Shape 127"/>
          <p:cNvSpPr/>
          <p:nvPr/>
        </p:nvSpPr>
        <p:spPr>
          <a:xfrm>
            <a:off x="34125408" y="19842480"/>
            <a:ext cx="4900800" cy="420624"/>
          </a:xfrm>
          <a:prstGeom prst="rect">
            <a:avLst/>
          </a:prstGeom>
          <a:solidFill>
            <a:srgbClr val="F9A96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Text 128"/>
          <p:cNvSpPr/>
          <p:nvPr/>
        </p:nvSpPr>
        <p:spPr>
          <a:xfrm>
            <a:off x="39135936" y="1972360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70,771</a:t>
            </a:r>
            <a:endParaRPr lang="en-US" sz="1500" dirty="0"/>
          </a:p>
        </p:txBody>
      </p:sp>
      <p:sp>
        <p:nvSpPr>
          <p:cNvPr id="134" name="Text 129"/>
          <p:cNvSpPr/>
          <p:nvPr/>
        </p:nvSpPr>
        <p:spPr>
          <a:xfrm>
            <a:off x="29644848" y="20683728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BVH  — indexes geometry</a:t>
            </a:r>
            <a:endParaRPr lang="en-US" sz="1400" dirty="0"/>
          </a:p>
        </p:txBody>
      </p:sp>
      <p:sp>
        <p:nvSpPr>
          <p:cNvPr id="135" name="Shape 130"/>
          <p:cNvSpPr/>
          <p:nvPr/>
        </p:nvSpPr>
        <p:spPr>
          <a:xfrm>
            <a:off x="34125408" y="20802600"/>
            <a:ext cx="4029419" cy="420624"/>
          </a:xfrm>
          <a:prstGeom prst="rect">
            <a:avLst/>
          </a:prstGeom>
          <a:solidFill>
            <a:srgbClr val="F7690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Text 131"/>
          <p:cNvSpPr/>
          <p:nvPr/>
        </p:nvSpPr>
        <p:spPr>
          <a:xfrm>
            <a:off x="38264555" y="2068372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9,717</a:t>
            </a:r>
            <a:endParaRPr lang="en-US" sz="1500" dirty="0"/>
          </a:p>
        </p:txBody>
      </p:sp>
      <p:sp>
        <p:nvSpPr>
          <p:cNvPr id="137" name="Text 132"/>
          <p:cNvSpPr/>
          <p:nvPr/>
        </p:nvSpPr>
        <p:spPr>
          <a:xfrm>
            <a:off x="29644848" y="21689568"/>
            <a:ext cx="1285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point-to-segment checks per property   (log scale)</a:t>
            </a:r>
            <a:endParaRPr lang="en-US" sz="1300" dirty="0"/>
          </a:p>
        </p:txBody>
      </p:sp>
      <p:sp>
        <p:nvSpPr>
          <p:cNvPr id="138" name="Text 133"/>
          <p:cNvSpPr/>
          <p:nvPr/>
        </p:nvSpPr>
        <p:spPr>
          <a:xfrm>
            <a:off x="29644848" y="22082760"/>
            <a:ext cx="12856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Indexing segments rather than features prunes 99.09% of exact work — 7.28× fewer checks than the Feature BVH, 109.4× fewer than brute force — while candidate features per property fall from 5.498 to 1.497. Output is byte-identical to the reference, not merely within tolerance.</a:t>
            </a:r>
            <a:endParaRPr lang="en-US" sz="1500" dirty="0"/>
          </a:p>
        </p:txBody>
      </p:sp>
      <p:sp>
        <p:nvSpPr>
          <p:cNvPr id="139" name="Shape 134"/>
          <p:cNvSpPr/>
          <p:nvPr/>
        </p:nvSpPr>
        <p:spPr>
          <a:xfrm>
            <a:off x="29260800" y="24140160"/>
            <a:ext cx="13624560" cy="3931920"/>
          </a:xfrm>
          <a:prstGeom prst="rect">
            <a:avLst/>
          </a:prstGeom>
          <a:solidFill>
            <a:srgbClr val="F5F5F5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Text 135"/>
          <p:cNvSpPr/>
          <p:nvPr/>
        </p:nvSpPr>
        <p:spPr>
          <a:xfrm>
            <a:off x="29644848" y="24377904"/>
            <a:ext cx="1285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60" dirty="0">
                <a:solidFill>
                  <a:srgbClr val="F769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HEAD-TO-HEAD BENCHMARK</a:t>
            </a:r>
            <a:endParaRPr lang="en-US" sz="2400" dirty="0"/>
          </a:p>
        </p:txBody>
      </p:sp>
      <p:sp>
        <p:nvSpPr>
          <p:cNvPr id="141" name="Text 136"/>
          <p:cNvSpPr/>
          <p:nvPr/>
        </p:nvSpPr>
        <p:spPr>
          <a:xfrm>
            <a:off x="29644848" y="2511856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Brute force</a:t>
            </a:r>
            <a:endParaRPr lang="en-US" sz="1300" dirty="0"/>
          </a:p>
        </p:txBody>
      </p:sp>
      <p:sp>
        <p:nvSpPr>
          <p:cNvPr id="142" name="Shape 137"/>
          <p:cNvSpPr/>
          <p:nvPr/>
        </p:nvSpPr>
        <p:spPr>
          <a:xfrm>
            <a:off x="33576768" y="25155144"/>
            <a:ext cx="8650224" cy="237744"/>
          </a:xfrm>
          <a:prstGeom prst="rect">
            <a:avLst/>
          </a:prstGeom>
          <a:solidFill>
            <a:srgbClr val="FDECDD"/>
          </a:solidFill>
          <a:ln w="12700">
            <a:solidFill>
              <a:srgbClr val="F7690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3" name="Text 138"/>
          <p:cNvSpPr/>
          <p:nvPr/>
        </p:nvSpPr>
        <p:spPr>
          <a:xfrm>
            <a:off x="29644848" y="2548432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Feature BVH</a:t>
            </a:r>
            <a:endParaRPr lang="en-US" sz="1300" dirty="0"/>
          </a:p>
        </p:txBody>
      </p:sp>
      <p:sp>
        <p:nvSpPr>
          <p:cNvPr id="144" name="Shape 139"/>
          <p:cNvSpPr/>
          <p:nvPr/>
        </p:nvSpPr>
        <p:spPr>
          <a:xfrm>
            <a:off x="33576768" y="25520904"/>
            <a:ext cx="8650224" cy="237744"/>
          </a:xfrm>
          <a:prstGeom prst="rect">
            <a:avLst/>
          </a:prstGeom>
          <a:solidFill>
            <a:srgbClr val="FDECDD"/>
          </a:solidFill>
          <a:ln w="12700">
            <a:solidFill>
              <a:srgbClr val="F7690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5" name="Text 140"/>
          <p:cNvSpPr/>
          <p:nvPr/>
        </p:nvSpPr>
        <p:spPr>
          <a:xfrm>
            <a:off x="29644848" y="2585008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Segment BVH</a:t>
            </a:r>
            <a:endParaRPr lang="en-US" sz="1300" dirty="0"/>
          </a:p>
        </p:txBody>
      </p:sp>
      <p:sp>
        <p:nvSpPr>
          <p:cNvPr id="146" name="Shape 141"/>
          <p:cNvSpPr/>
          <p:nvPr/>
        </p:nvSpPr>
        <p:spPr>
          <a:xfrm>
            <a:off x="33576768" y="25886664"/>
            <a:ext cx="8650224" cy="237744"/>
          </a:xfrm>
          <a:prstGeom prst="rect">
            <a:avLst/>
          </a:prstGeom>
          <a:solidFill>
            <a:srgbClr val="FDECDD"/>
          </a:solidFill>
          <a:ln w="12700">
            <a:solidFill>
              <a:srgbClr val="F7690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7" name="Text 142"/>
          <p:cNvSpPr/>
          <p:nvPr/>
        </p:nvSpPr>
        <p:spPr>
          <a:xfrm>
            <a:off x="29644848" y="2621584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Hilbert + binary search</a:t>
            </a:r>
            <a:endParaRPr lang="en-US" sz="1300" dirty="0"/>
          </a:p>
        </p:txBody>
      </p:sp>
      <p:sp>
        <p:nvSpPr>
          <p:cNvPr id="148" name="Shape 143"/>
          <p:cNvSpPr/>
          <p:nvPr/>
        </p:nvSpPr>
        <p:spPr>
          <a:xfrm>
            <a:off x="33576768" y="26252424"/>
            <a:ext cx="8650224" cy="237744"/>
          </a:xfrm>
          <a:prstGeom prst="rect">
            <a:avLst/>
          </a:prstGeom>
          <a:solidFill>
            <a:srgbClr val="FDECDD"/>
          </a:solidFill>
          <a:ln w="12700">
            <a:solidFill>
              <a:srgbClr val="F7690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9" name="Text 144"/>
          <p:cNvSpPr/>
          <p:nvPr/>
        </p:nvSpPr>
        <p:spPr>
          <a:xfrm>
            <a:off x="29644848" y="2658160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Hilbert + RMI</a:t>
            </a:r>
            <a:endParaRPr lang="en-US" sz="1300" dirty="0"/>
          </a:p>
        </p:txBody>
      </p:sp>
      <p:sp>
        <p:nvSpPr>
          <p:cNvPr id="150" name="Shape 145"/>
          <p:cNvSpPr/>
          <p:nvPr/>
        </p:nvSpPr>
        <p:spPr>
          <a:xfrm>
            <a:off x="33576768" y="26618184"/>
            <a:ext cx="8650224" cy="237744"/>
          </a:xfrm>
          <a:prstGeom prst="rect">
            <a:avLst/>
          </a:prstGeom>
          <a:solidFill>
            <a:srgbClr val="FDECDD"/>
          </a:solidFill>
          <a:ln w="12700">
            <a:solidFill>
              <a:srgbClr val="F7690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51" name="Text 146"/>
          <p:cNvSpPr/>
          <p:nvPr/>
        </p:nvSpPr>
        <p:spPr>
          <a:xfrm>
            <a:off x="33576768" y="26974800"/>
            <a:ext cx="8650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wall-clock seconds per countywide run, throughput, and traversal counters — pending</a:t>
            </a:r>
            <a:endParaRPr lang="en-US" sz="1200" dirty="0"/>
          </a:p>
        </p:txBody>
      </p:sp>
      <p:sp>
        <p:nvSpPr>
          <p:cNvPr id="152" name="Text 147"/>
          <p:cNvSpPr/>
          <p:nvPr/>
        </p:nvSpPr>
        <p:spPr>
          <a:xfrm>
            <a:off x="29644848" y="27285696"/>
            <a:ext cx="12856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F769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Pruning above is measured; wall-clock speedup is not claimed. A single countywide run is not a benchmark — comparison requires repeated runs of all five exact implementations under one protocol, reserved above.</a:t>
            </a:r>
            <a:endParaRPr lang="en-US" sz="1300" dirty="0"/>
          </a:p>
        </p:txBody>
      </p:sp>
      <p:sp>
        <p:nvSpPr>
          <p:cNvPr id="153" name="Shape 148"/>
          <p:cNvSpPr/>
          <p:nvPr/>
        </p:nvSpPr>
        <p:spPr>
          <a:xfrm>
            <a:off x="29260800" y="28483560"/>
            <a:ext cx="1362456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F769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Text 149"/>
          <p:cNvSpPr/>
          <p:nvPr/>
        </p:nvSpPr>
        <p:spPr>
          <a:xfrm>
            <a:off x="29535120" y="28483560"/>
            <a:ext cx="13075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F769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Conclusion. </a:t>
            </a:r>
            <a:r>
              <a:rPr lang="en-US" sz="15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evidence families across three data topologies produce one evidence contract for 267,362 properties, with exact Python/C++ agreement at every scale. The open question is whether learned indexing extends to exact nearest-neighbour queries over extended objects — backed by an oracle that can verify exactness rather than assume it.</a:t>
            </a:r>
            <a:endParaRPr lang="en-US" sz="1500" dirty="0"/>
          </a:p>
        </p:txBody>
      </p:sp>
      <p:sp>
        <p:nvSpPr>
          <p:cNvPr id="155" name="Shape 150"/>
          <p:cNvSpPr/>
          <p:nvPr/>
        </p:nvSpPr>
        <p:spPr>
          <a:xfrm>
            <a:off x="0" y="30540960"/>
            <a:ext cx="43891200" cy="2377440"/>
          </a:xfrm>
          <a:prstGeom prst="rect">
            <a:avLst/>
          </a:prstGeom>
          <a:solidFill>
            <a:srgbClr val="F7690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Text 151"/>
          <p:cNvSpPr/>
          <p:nvPr/>
        </p:nvSpPr>
        <p:spPr>
          <a:xfrm>
            <a:off x="1097280" y="3095244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R·I·T</a:t>
            </a:r>
            <a:endParaRPr lang="en-US" sz="4600" dirty="0"/>
          </a:p>
        </p:txBody>
      </p:sp>
      <p:sp>
        <p:nvSpPr>
          <p:cNvPr id="157" name="Text 152"/>
          <p:cNvSpPr/>
          <p:nvPr/>
        </p:nvSpPr>
        <p:spPr>
          <a:xfrm>
            <a:off x="5669280" y="309524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Rochester Institute of Technology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Thomas Golisano College of Computing &amp; Information Sciences</a:t>
            </a:r>
            <a:endParaRPr lang="en-US" sz="1500" dirty="0"/>
          </a:p>
        </p:txBody>
      </p:sp>
      <p:sp>
        <p:nvSpPr>
          <p:cNvPr id="158" name="Text 153"/>
          <p:cNvSpPr/>
          <p:nvPr/>
        </p:nvSpPr>
        <p:spPr>
          <a:xfrm>
            <a:off x="17647920" y="30815280"/>
            <a:ext cx="2514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REFERENCES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FEMA, National Flood Hazard Layer.  [2] USGS 3D Hydrography Program.  [3] USGS 3DEP 1/3 arc-second DEM.  [4] NYS GIS Program Office, NYS Parcel Centroids.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[5] V. Pandey et al., “How good are modern spatial analytics systems?” PVLDB 11(11), 2018.  [6] RLR-Tree, arXiv:2103.04541.  [7] “How good are multi-dimensional learned indexes? An experimental survey,” VLDB Journal, 2024.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Repository: github.com/salexander-git/caprm-flood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1599</Words>
  <Application>Microsoft Office PowerPoint</Application>
  <PresentationFormat>Custom</PresentationFormat>
  <Paragraphs>166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Sterling Alexander (RIT Student)</cp:lastModifiedBy>
  <cp:revision>1</cp:revision>
  <dcterms:created xsi:type="dcterms:W3CDTF">2026-07-23T13:37:45Z</dcterms:created>
  <dcterms:modified xsi:type="dcterms:W3CDTF">2026-07-23T14:06:01Z</dcterms:modified>
</cp:coreProperties>
</file>